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" cy="4389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Transformative Technology</a:t>
            </a:r>
            <a:br/>
            <a:r>
              <a:t>Commercial Banking Coverage &amp; Credit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D5F0"/>
                </a:solidFill>
                <a:latin typeface="Aptos"/>
              </a:defRPr>
            </a:pPr>
            <a:r>
              <a:t>Executive portfolio simulation for a technology-focused middle-market banking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Flagship client: AetherGrid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5F0"/>
                </a:solidFill>
                <a:latin typeface="Aptos"/>
              </a:defRPr>
            </a:pPr>
            <a:r>
              <a:t>Portfolio prioritization  •  Financial statement analysis  •  Credit screening  •  Treasury &amp; FX  •  Relationship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3035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4B4CC"/>
                </a:solidFill>
                <a:latin typeface="Aptos"/>
              </a:defRPr>
            </a:pPr>
            <a:r>
              <a:t>All companies and financial data are fictional and created for portfolio demonstration.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What the Project Simulates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Designed around the responsibilities of a technology commercial-banking associate</a:t>
            </a:r>
          </a:p>
        </p:txBody>
      </p:sp>
      <p:pic>
        <p:nvPicPr>
          <p:cNvPr id="6" name="Picture 5" descr="projec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270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Coverage-level prioritization across clients and prospects</a:t>
            </a:r>
          </a:p>
          <a:p>
            <a:pPr>
              <a:spcAft>
                <a:spcPts val="7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Company-level financial, credit, treasury, and relationship analysis</a:t>
            </a:r>
          </a:p>
          <a:p>
            <a:pPr>
              <a:spcAft>
                <a:spcPts val="7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Executive recommendation translated into a relationship-manager workplan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Market &amp; Coverage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Public context informs the simulation; all model data remain synthetic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3317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35607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GCB client revenue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764792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$50MM–$2B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25880"/>
            <a:ext cx="23317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35607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Fed funds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64792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3.50%–3.75%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25880"/>
            <a:ext cx="23317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435607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Portfolio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64792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23317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35607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Synthetic portfolio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64792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$5.6B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Technology coverage requires combining company analysis with access to Credit, Treasury, FX, Investment Banking, Merchant Services, and other partners.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The model uses a 3.65% illustrative reference rate for the base case, inside the current Federal Reserve target range.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Portfolio companies span cloud, cybersecurity, fintech infrastructure, AI data, SaaS, healthcare technology, and network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The portfolio score separates credit strength from relationship opportunity.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The flagship case tests whether growth, margin expansion, and cash generation remain sufficient under a slower-growth / higher-rate downside.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• Treasury analysis focuses on collections, payments, liquidity, and international FX needs.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2910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70">
                <a:solidFill>
                  <a:srgbClr val="6B7280"/>
                </a:solidFill>
                <a:latin typeface="Aptos"/>
              </a:defRPr>
            </a:pPr>
            <a:r>
              <a:t>Sources: Bank of America Global Commercial Banking public pages; Federal Reserve FOMC statement, July 29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Technology Portfolio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Credit quality and relationship opportunity are evaluated separately before combining into coverage priority</a:t>
            </a:r>
          </a:p>
        </p:txBody>
      </p:sp>
      <p:pic>
        <p:nvPicPr>
          <p:cNvPr id="6" name="Picture 5" descr="portfolio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3152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Aptos"/>
              </a:defRPr>
            </a:pPr>
            <a:r>
              <a:t>Coverage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74519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AtlasEdge and QuantumRoute rank highest overall because of strong financial profiles and larger relationship wallets.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CipherNorth screens as the strongest high-growth prospect from a credit perspective.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VectorMesh AI demonstrates why exceptional growth does not automatically equal bankable credit quality.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AetherGrid is an existing client with a solid credit screen but meaningful room to deepen the wallet.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Flagship Client: AetherGrid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Existing cloud / AI observability client selected for full relationship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$255MM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2025 EBITDA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12.9%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2025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$48MM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2025 Debt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$80MM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2025 Net 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1.0x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234440"/>
            <a:ext cx="16916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13441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NRR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1673352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112%</a:t>
            </a:r>
          </a:p>
        </p:txBody>
      </p:sp>
      <p:pic>
        <p:nvPicPr>
          <p:cNvPr id="24" name="Picture 23" descr="aethergrid_growth_profi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6583680" cy="3429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52360" y="2743200"/>
            <a:ext cx="4069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Revenue expands while EBITDA margin improves, creating stronger internal cash generation.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Debt declines and cash increases, reducing net leverage.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Recurring-revenue retention remains strong, though the forecast assumes gradual normalization.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International revenue increases, expanding treasury and FX complexity.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Credit Analysis &amp; Downside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The key question is not whether AetherGrid grows—it is whether cash flow can service debt when growth slows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344168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2026E Base DSCR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673352"/>
            <a:ext cx="1920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BA39C"/>
                </a:solidFill>
                <a:latin typeface="Aptos Display"/>
              </a:defRPr>
            </a:pPr>
            <a:r>
              <a:t>2.41x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234440"/>
            <a:ext cx="21031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344168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2026E Downside DSCR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73352"/>
            <a:ext cx="1920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D5A021"/>
                </a:solidFill>
                <a:latin typeface="Aptos Display"/>
              </a:defRPr>
            </a:pPr>
            <a:r>
              <a:t>1.29x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234440"/>
            <a:ext cx="21031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344168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Illustrative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673352"/>
            <a:ext cx="1920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C33C54"/>
                </a:solidFill>
                <a:latin typeface="Aptos Display"/>
              </a:defRPr>
            </a:pPr>
            <a:r>
              <a:t>1.25x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234440"/>
            <a:ext cx="21031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344168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Aptos"/>
              </a:defRPr>
            </a:pPr>
            <a:r>
              <a:t>Base Net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1673352"/>
            <a:ext cx="1920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F6BFF"/>
                </a:solidFill>
                <a:latin typeface="Aptos Display"/>
              </a:defRPr>
            </a:pPr>
            <a:r>
              <a:t>0.71x</a:t>
            </a:r>
          </a:p>
        </p:txBody>
      </p:sp>
      <p:pic>
        <p:nvPicPr>
          <p:cNvPr id="18" name="Picture 17" descr="aethergrid_scenario_d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6629400" cy="3291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2697480"/>
            <a:ext cx="397763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Base case shows comfortable coverage and continued deleveraging.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Downside 2026E is the critical watch point: 1.29x DSCR leaves only modest cushion.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Higher rates and margin compression matter more than revenue growth alone.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Preliminary view: maintain revolver flexibility, but avoid aggressive incremental term leverage.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  <p:pic>
        <p:nvPicPr>
          <p:cNvPr id="21" name="Picture 20" descr="aethergrid_scenario_ds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06040"/>
            <a:ext cx="6629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Treasury, Payments &amp; FX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A commercial relationship should be evaluated as more than a loan</a:t>
            </a:r>
          </a:p>
        </p:txBody>
      </p:sp>
      <p:pic>
        <p:nvPicPr>
          <p:cNvPr id="6" name="Picture 5" descr="aethergrid_treasury_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0350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1417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Aptos"/>
              </a:defRPr>
            </a:pPr>
            <a:r>
              <a:t>Priority Solution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Receivables / ACH automation as collections scale</a:t>
            </a:r>
          </a:p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Operating deposits and liquidity structure as cash balances rise</a:t>
            </a:r>
          </a:p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Global payment visibility as international revenue expands</a:t>
            </a:r>
          </a:p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FX exposure review and hedging discussion</a:t>
            </a:r>
          </a:p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Payment controls for growing vendor disbursements</a:t>
            </a:r>
          </a:p>
          <a:p>
            <a:pPr>
              <a:spcAft>
                <a:spcPts val="700"/>
              </a:spcAft>
              <a:defRPr sz="1160">
                <a:solidFill>
                  <a:srgbClr val="1F2937"/>
                </a:solidFill>
                <a:latin typeface="Aptos"/>
              </a:defRPr>
            </a:pPr>
            <a:r>
              <a:t>• Commercial card / expense management for a scaling workforce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53492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A39C"/>
                </a:solidFill>
                <a:latin typeface="Aptos"/>
              </a:defRPr>
            </a:pPr>
            <a:r>
              <a:t>Commercial thesis: deepen operating flows and visibility before adding material leverage.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Executive Relationship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Translate analysis into coordinated actions across coverage and product partners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2461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4264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2461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4264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325880"/>
            <a:ext cx="32461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4264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32461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075688"/>
            <a:ext cx="30266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1F2937"/>
                </a:solidFill>
                <a:latin typeface="Aptos"/>
              </a:defRPr>
            </a:pPr>
            <a:r>
              <a:t>Improving leverage &amp; cash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965960"/>
            <a:ext cx="33832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075688"/>
            <a:ext cx="3163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Credit is supportive but still sensitive to downside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65960"/>
            <a:ext cx="365760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075688"/>
            <a:ext cx="3438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Maintain revolver; limit incremental term debt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32461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30266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1F2937"/>
                </a:solidFill>
                <a:latin typeface="Aptos"/>
              </a:defRPr>
            </a:pPr>
            <a:r>
              <a:t>Rising collections &amp; cash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788920"/>
            <a:ext cx="33832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2898648"/>
            <a:ext cx="3163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Treasury wallet is underpenetrated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788920"/>
            <a:ext cx="365760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898648"/>
            <a:ext cx="3438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Map receivables, payments, liquidity and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79"/>
            <a:ext cx="32461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721607"/>
            <a:ext cx="30266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1F2937"/>
                </a:solidFill>
                <a:latin typeface="Aptos"/>
              </a:defRPr>
            </a:pPr>
            <a:r>
              <a:t>International revenue rising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611879"/>
            <a:ext cx="33832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3721607"/>
            <a:ext cx="3163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FX complexity increases with 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611879"/>
            <a:ext cx="365760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3721607"/>
            <a:ext cx="3438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Conduct exposure review by currency / market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34840"/>
            <a:ext cx="32461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544568"/>
            <a:ext cx="30266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1F2937"/>
                </a:solidFill>
                <a:latin typeface="Aptos"/>
              </a:defRPr>
            </a:pPr>
            <a:r>
              <a:t>Strong NRR but normalizing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434840"/>
            <a:ext cx="33832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8" y="4544568"/>
            <a:ext cx="3163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Renewal quality remains a key risk indicator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434840"/>
            <a:ext cx="365760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4544568"/>
            <a:ext cx="3438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Review customer concentration and renewal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57800"/>
            <a:ext cx="32461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367528"/>
            <a:ext cx="30266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1F2937"/>
                </a:solidFill>
                <a:latin typeface="Aptos"/>
              </a:defRPr>
            </a:pPr>
            <a:r>
              <a:t>Potential future M&amp;A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5257800"/>
            <a:ext cx="33832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0248" y="5367528"/>
            <a:ext cx="3163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Strategic-capital needs may emerge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5257800"/>
            <a:ext cx="365760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5367528"/>
            <a:ext cx="34381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1F2937"/>
                </a:solidFill>
                <a:latin typeface="Aptos"/>
              </a:defRPr>
            </a:pPr>
            <a:r>
              <a:t>Keep Investment Banking informed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  <a:latin typeface="Aptos Display"/>
              </a:defRPr>
            </a:pPr>
            <a:r>
              <a:t>Recommended Coverage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The recommendation balances growth support, risk discipline, and relationship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Aptos"/>
              </a:defRPr>
            </a:pPr>
            <a:r>
              <a:t>Preliminary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Aptos"/>
              </a:defRPr>
            </a:pPr>
            <a:r>
              <a:t>Support continued access to an illustrative $50MM revolving facility, subject to formal underwriting and approval; prioritize treasury, liquidity, and FX expansion before adding aggressive incremental term leverage.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84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6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Aptos"/>
              </a:defRPr>
            </a:pPr>
            <a:r>
              <a:t>CFO / Treasurer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1605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1F2937"/>
                </a:solidFill>
                <a:latin typeface="Aptos"/>
              </a:defRPr>
            </a:pPr>
            <a:r>
              <a:t>Validate 2026 plan, cash priorities, renewal quality, and capital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4290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84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6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Aptos"/>
              </a:defRPr>
            </a:pPr>
            <a:r>
              <a:t>Credit Refresh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1605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1F2937"/>
                </a:solidFill>
                <a:latin typeface="Aptos"/>
              </a:defRPr>
            </a:pPr>
            <a:r>
              <a:t>Update downside sensitivities, customer concentration, debt schedule, and liquidity.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584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6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Aptos"/>
              </a:defRPr>
            </a:pPr>
            <a:r>
              <a:t>Treasury / FX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1605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1F2937"/>
                </a:solidFill>
                <a:latin typeface="Aptos"/>
              </a:defRPr>
            </a:pPr>
            <a:r>
              <a:t>Map collections, payments, deposits, international flows, and policy gaps.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4290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584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6B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Aptos"/>
              </a:defRPr>
            </a:pPr>
            <a:r>
              <a:t>Quarterly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1605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1F2937"/>
                </a:solidFill>
                <a:latin typeface="Aptos"/>
              </a:defRPr>
            </a:pPr>
            <a:r>
              <a:t>Track DSCR, NRR, cash, leverage, margin execution, and wallet penetration.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B7280"/>
                </a:solidFill>
                <a:latin typeface="Aptos"/>
              </a:defRPr>
            </a:pPr>
            <a:r>
              <a:t>Independent synthetic portfolio simulation | Not Bank of America work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1892807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2128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Three-year forecast, margins, working capital, liquidity and cash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892807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Commercial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2128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Net leverage, DSCR, interest-rate sensitivity and downside screening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5468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1012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Technology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630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SaaS / recurring revenue, NRR, growth and operating leverage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5468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31012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Treasury &amp; FX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630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Collections, payments, deposits, liquidity and international exposure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7200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72744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Client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50474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Relationship prioritization, needs assessment and product opportunity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572000"/>
            <a:ext cx="5074920" cy="1051560"/>
          </a:xfrm>
          <a:prstGeom prst="roundRect">
            <a:avLst/>
          </a:prstGeom>
          <a:solidFill>
            <a:srgbClr val="152D4E"/>
          </a:solidFill>
          <a:ln>
            <a:solidFill>
              <a:srgbClr val="3F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472744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Executive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50474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C4D5F0"/>
                </a:solidFill>
                <a:latin typeface="Aptos"/>
              </a:defRPr>
            </a:pPr>
            <a:r>
              <a:t>Dashboard, credit screening memo, relationship review and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D5F0"/>
                </a:solidFill>
                <a:latin typeface="Aptos"/>
              </a:defRPr>
            </a:pPr>
            <a:r>
              <a:t>Portfolio-ready • GitHub-ready • Interview-ready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